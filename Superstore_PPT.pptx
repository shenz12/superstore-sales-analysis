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3293D"/>
                </a:solidFill>
                <a:latin typeface="Calibri"/>
              </a:rPr>
              <a:t>Sales by Year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494</c:v>
                </c:pt>
                <c:pt idx="1">
                  <c:v>473</c:v>
                </c:pt>
                <c:pt idx="2">
                  <c:v>613.9</c:v>
                </c:pt>
                <c:pt idx="3">
                  <c:v>745.6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45B69"/>
            </a:solidFill>
            <a:ln w="38100" cap="flat">
              <a:solidFill>
                <a:srgbClr val="F45B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5B69"/>
              </a:solidFill>
              <a:ln w="9525" cap="flat">
                <a:solidFill>
                  <a:srgbClr val="F45B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51.7</c:v>
                </c:pt>
                <c:pt idx="1">
                  <c:v>62</c:v>
                </c:pt>
                <c:pt idx="2">
                  <c:v>82.7</c:v>
                </c:pt>
                <c:pt idx="3">
                  <c:v>95.9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9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839.9</c:v>
                </c:pt>
                <c:pt idx="1">
                  <c:v>731.9</c:v>
                </c:pt>
                <c:pt idx="2">
                  <c:v>754.7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21C0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146.5</c:v>
                </c:pt>
                <c:pt idx="1">
                  <c:v>126</c:v>
                </c:pt>
                <c:pt idx="2">
                  <c:v>19.7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3"/>
                    </a:solidFill>
                    <a:latin typeface="Arial"/>
                  </a:rPr>
                  <a:t>$ Thousands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21C0A1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C0A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1C0A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C0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C0A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1C0A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1C0A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Labels</c:v>
                  </c:pt>
                  <c:pt idx="1">
                    <c:v>Paper</c:v>
                  </c:pt>
                  <c:pt idx="2">
                    <c:v>Envelopes</c:v>
                  </c:pt>
                  <c:pt idx="3">
                    <c:v>Copiers</c:v>
                  </c:pt>
                  <c:pt idx="4">
                    <c:v>Fasteners</c:v>
                  </c:pt>
                  <c:pt idx="5">
                    <c:v>Accessories</c:v>
                  </c:pt>
                  <c:pt idx="6">
                    <c:v>Machines</c:v>
                  </c:pt>
                  <c:pt idx="7">
                    <c:v>Supplies</c:v>
                  </c:pt>
                  <c:pt idx="8">
                    <c:v>Bookcases</c:v>
                  </c:pt>
                  <c:pt idx="9">
                    <c:v>Tables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43.9</c:v>
                </c:pt>
                <c:pt idx="1">
                  <c:v>43.4</c:v>
                </c:pt>
                <c:pt idx="2">
                  <c:v>42.3</c:v>
                </c:pt>
                <c:pt idx="3">
                  <c:v>37.2</c:v>
                </c:pt>
                <c:pt idx="4">
                  <c:v>28.5</c:v>
                </c:pt>
                <c:pt idx="5">
                  <c:v>25.1</c:v>
                </c:pt>
                <c:pt idx="6">
                  <c:v>1.8</c:v>
                </c:pt>
                <c:pt idx="7">
                  <c:v>-2.5</c:v>
                </c:pt>
                <c:pt idx="8">
                  <c:v>-3.1</c:v>
                </c:pt>
                <c:pt idx="9">
                  <c:v>-8.5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-12"/>
        </c:scaling>
        <c:delete val="0"/>
        <c:axPos val="b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3"/>
                    </a:solidFill>
                    <a:latin typeface="Arial"/>
                  </a:rPr>
                  <a:t>Profit Margin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3293D"/>
                </a:solidFill>
                <a:latin typeface="Calibri"/>
              </a:rPr>
              <a:t>Sales Share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C0A1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B25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1170.7</c:v>
                </c:pt>
                <c:pt idx="1">
                  <c:v>715.8</c:v>
                </c:pt>
                <c:pt idx="2">
                  <c:v>440.1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C6B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1378.8</c:v>
                </c:pt>
                <c:pt idx="1">
                  <c:v>466.7</c:v>
                </c:pt>
                <c:pt idx="2">
                  <c:v>351.8</c:v>
                </c:pt>
                <c:pt idx="3">
                  <c:v>129.3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21C0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168.2</c:v>
                </c:pt>
                <c:pt idx="1">
                  <c:v>59</c:v>
                </c:pt>
                <c:pt idx="2">
                  <c:v>49</c:v>
                </c:pt>
                <c:pt idx="3">
                  <c:v>16.2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3"/>
                    </a:solidFill>
                    <a:latin typeface="Arial"/>
                  </a:rPr>
                  <a:t>$ Thousands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C6B73"/>
                </a:solidFill>
                <a:latin typeface="Calibri"/>
              </a:rPr>
              <a:t>Sales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California</c:v>
                  </c:pt>
                  <c:pt idx="1">
                    <c:v>New York</c:v>
                  </c:pt>
                  <c:pt idx="2">
                    <c:v>Texas</c:v>
                  </c:pt>
                  <c:pt idx="3">
                    <c:v>Washington</c:v>
                  </c:pt>
                  <c:pt idx="4">
                    <c:v>Pennsylvania</c:v>
                  </c:pt>
                  <c:pt idx="5">
                    <c:v>Florida</c:v>
                  </c:pt>
                  <c:pt idx="6">
                    <c:v>Illinois</c:v>
                  </c:pt>
                  <c:pt idx="7">
                    <c:v>Ohio</c:v>
                  </c:pt>
                  <c:pt idx="8">
                    <c:v>Michigan</c:v>
                  </c:pt>
                  <c:pt idx="9">
                    <c:v>Virginia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457.7</c:v>
                </c:pt>
                <c:pt idx="1">
                  <c:v>310.9</c:v>
                </c:pt>
                <c:pt idx="2">
                  <c:v>170.2</c:v>
                </c:pt>
                <c:pt idx="3">
                  <c:v>138.6</c:v>
                </c:pt>
                <c:pt idx="4">
                  <c:v>116.5</c:v>
                </c:pt>
                <c:pt idx="5">
                  <c:v>89.5</c:v>
                </c:pt>
                <c:pt idx="6">
                  <c:v>80.2</c:v>
                </c:pt>
                <c:pt idx="7">
                  <c:v>78.3</c:v>
                </c:pt>
                <c:pt idx="8">
                  <c:v>76.3</c:v>
                </c:pt>
                <c:pt idx="9">
                  <c:v>70.6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C6B73"/>
                </a:solidFill>
                <a:latin typeface="Calibri"/>
              </a:rPr>
              <a:t>Profit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45B6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California</c:v>
                  </c:pt>
                  <c:pt idx="1">
                    <c:v>New York</c:v>
                  </c:pt>
                  <c:pt idx="2">
                    <c:v>Texas</c:v>
                  </c:pt>
                  <c:pt idx="3">
                    <c:v>Washington</c:v>
                  </c:pt>
                  <c:pt idx="4">
                    <c:v>Pennsylvania</c:v>
                  </c:pt>
                  <c:pt idx="5">
                    <c:v>Florida</c:v>
                  </c:pt>
                  <c:pt idx="6">
                    <c:v>Illinois</c:v>
                  </c:pt>
                  <c:pt idx="7">
                    <c:v>Ohio</c:v>
                  </c:pt>
                  <c:pt idx="8">
                    <c:v>Michigan</c:v>
                  </c:pt>
                  <c:pt idx="9">
                    <c:v>Virginia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76.4</c:v>
                </c:pt>
                <c:pt idx="1">
                  <c:v>74</c:v>
                </c:pt>
                <c:pt idx="2">
                  <c:v>-25.7</c:v>
                </c:pt>
                <c:pt idx="3">
                  <c:v>33.4</c:v>
                </c:pt>
                <c:pt idx="4">
                  <c:v>-15.6</c:v>
                </c:pt>
                <c:pt idx="5">
                  <c:v>-3.4</c:v>
                </c:pt>
                <c:pt idx="6">
                  <c:v>-12.6</c:v>
                </c:pt>
                <c:pt idx="7">
                  <c:v>-17</c:v>
                </c:pt>
                <c:pt idx="8">
                  <c:v>24.5</c:v>
                </c:pt>
                <c:pt idx="9">
                  <c:v>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21C0A1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Review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revenue, profitability, and growth across regions, segments, and product lines (2023–2026)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2011680" cy="0"/>
          </a:xfrm>
          <a:prstGeom prst="line">
            <a:avLst/>
          </a:prstGeom>
          <a:noFill/>
          <a:ln w="31750">
            <a:solidFill>
              <a:srgbClr val="21C0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Superstore transaction data • 10,194 line items • 5,111 orders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years of Superstore performance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A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45720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$2.33M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10,194 line items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A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856232"/>
            <a:ext cx="457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$292.3K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0332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 overall margin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A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1856232"/>
            <a:ext cx="457200" cy="73152"/>
          </a:xfrm>
          <a:prstGeom prst="rect">
            <a:avLst/>
          </a:prstGeom>
          <a:solidFill>
            <a:srgbClr val="21C0A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C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5,111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62940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804 unique customers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16002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A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55480" y="1856232"/>
            <a:ext cx="457200" cy="73152"/>
          </a:xfrm>
          <a:prstGeom prst="rect">
            <a:avLst/>
          </a:prstGeom>
          <a:solidFill>
            <a:srgbClr val="F45B69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55480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38,654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55548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 15.5%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384280" cy="233172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526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every year, reaching $745.6K in 2026 — a 51% increase since 2023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89320" y="4526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profitability (17.4% margin); Furniture lags badly (2.6% margin)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regions generate 61% of total profit; Central and South underperform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8932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Bookcases are sold at a net loss despite steady demand — pricing/discount issue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Trajectory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climbed steadily each year while profit nearly doubled since 2023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17320"/>
            <a:ext cx="3886200" cy="4709160"/>
          </a:xfrm>
          <a:prstGeom prst="roundRect">
            <a:avLst>
              <a:gd name="adj" fmla="val 1882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TREND ($K)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863840" y="2011680"/>
          <a:ext cx="3611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001000" y="46177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+85.6%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 from 2023 to 2026, outpacing the 51% rise in sales — margins are improving, not just volume.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Office Supplies drive margin; Furniture sells well but barely profits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63040"/>
            <a:ext cx="4114800" cy="4663440"/>
          </a:xfrm>
          <a:prstGeom prst="roundRect">
            <a:avLst>
              <a:gd name="adj" fmla="val 1778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0" y="2194560"/>
            <a:ext cx="274320" cy="274320"/>
          </a:xfrm>
          <a:prstGeom prst="ellipse">
            <a:avLst/>
          </a:prstGeom>
          <a:solidFill>
            <a:srgbClr val="21C0A1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1C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772400" y="2606040"/>
            <a:ext cx="3383280" cy="164592"/>
          </a:xfrm>
          <a:prstGeom prst="roundRect">
            <a:avLst>
              <a:gd name="adj" fmla="val 16667"/>
            </a:avLst>
          </a:prstGeom>
          <a:solidFill>
            <a:srgbClr val="E7ECEF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0" y="2606040"/>
            <a:ext cx="2943454" cy="164592"/>
          </a:xfrm>
          <a:prstGeom prst="roundRect">
            <a:avLst>
              <a:gd name="adj" fmla="val 16667"/>
            </a:avLst>
          </a:prstGeom>
          <a:solidFill>
            <a:srgbClr val="21C0A1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0" y="34747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3272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17.2%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772400" y="3886200"/>
            <a:ext cx="3383280" cy="164592"/>
          </a:xfrm>
          <a:prstGeom prst="roundRect">
            <a:avLst>
              <a:gd name="adj" fmla="val 16667"/>
            </a:avLst>
          </a:prstGeom>
          <a:solidFill>
            <a:srgbClr val="E7ECEF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0" y="3886200"/>
            <a:ext cx="2909621" cy="164592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0" y="4754880"/>
            <a:ext cx="274320" cy="274320"/>
          </a:xfrm>
          <a:prstGeom prst="ellipse">
            <a:avLst/>
          </a:prstGeom>
          <a:solidFill>
            <a:srgbClr val="F45B69"/>
          </a:solidFill>
          <a:ln/>
        </p:spPr>
      </p:sp>
      <p:sp>
        <p:nvSpPr>
          <p:cNvPr id="18" name="Text 15"/>
          <p:cNvSpPr/>
          <p:nvPr/>
        </p:nvSpPr>
        <p:spPr>
          <a:xfrm>
            <a:off x="818388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33272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772400" y="5166360"/>
            <a:ext cx="3383280" cy="164592"/>
          </a:xfrm>
          <a:prstGeom prst="roundRect">
            <a:avLst>
              <a:gd name="adj" fmla="val 16667"/>
            </a:avLst>
          </a:prstGeom>
          <a:solidFill>
            <a:srgbClr val="E7ECEF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0" y="5166360"/>
            <a:ext cx="439826" cy="164592"/>
          </a:xfrm>
          <a:prstGeom prst="roundRect">
            <a:avLst>
              <a:gd name="adj" fmla="val 16667"/>
            </a:avLst>
          </a:prstGeom>
          <a:solidFill>
            <a:srgbClr val="F45B69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5943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Furniture's margin is 6.7x thinner than Technology's — driven largely by Tables and Bookcases.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Profit Leaks 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sub-categories sell steadily but post a net loss — mainly from heavy discounting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together generate 61% of total profit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109728"/>
          </a:xfrm>
          <a:prstGeom prst="rect">
            <a:avLst/>
          </a:prstGeom>
          <a:solidFill>
            <a:srgbClr val="21C0A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$739.8K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2148840" cy="0"/>
          </a:xfrm>
          <a:prstGeom prst="line">
            <a:avLst/>
          </a:prstGeom>
          <a:noFill/>
          <a:ln w="12700">
            <a:solidFill>
              <a:srgbClr val="E7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$110.8K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 of sales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600200"/>
            <a:ext cx="26060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920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331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$691.8K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0332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291840"/>
            <a:ext cx="2148840" cy="0"/>
          </a:xfrm>
          <a:prstGeom prst="line">
            <a:avLst/>
          </a:prstGeom>
          <a:noFill/>
          <a:ln w="12700">
            <a:solidFill>
              <a:srgbClr val="E7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$94.9K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0332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5577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 of sales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600200"/>
            <a:ext cx="2606040" cy="10972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920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2331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$503.2K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2940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3291840"/>
            <a:ext cx="2148840" cy="0"/>
          </a:xfrm>
          <a:prstGeom prst="line">
            <a:avLst/>
          </a:prstGeom>
          <a:noFill/>
          <a:ln w="12700">
            <a:solidFill>
              <a:srgbClr val="E7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$39.9K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2940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5577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 of sales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2688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0" y="1600200"/>
            <a:ext cx="2606040" cy="109728"/>
          </a:xfrm>
          <a:prstGeom prst="rect">
            <a:avLst/>
          </a:prstGeom>
          <a:solidFill>
            <a:srgbClr val="F45B69"/>
          </a:solidFill>
          <a:ln/>
        </p:spPr>
      </p:sp>
      <p:sp>
        <p:nvSpPr>
          <p:cNvPr id="33" name="Text 31"/>
          <p:cNvSpPr/>
          <p:nvPr/>
        </p:nvSpPr>
        <p:spPr>
          <a:xfrm>
            <a:off x="9555480" y="1920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55480" y="2331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$391.7K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555480" y="2880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555480" y="3291840"/>
            <a:ext cx="2148840" cy="0"/>
          </a:xfrm>
          <a:prstGeom prst="line">
            <a:avLst/>
          </a:prstGeom>
          <a:noFill/>
          <a:ln w="12700">
            <a:solidFill>
              <a:srgbClr val="E7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548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$46.7K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55548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55480" y="5577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of sales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drive half of all revenue and profit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7F9FB"/>
          </a:solidFill>
          <a:ln w="12700">
            <a:solidFill>
              <a:srgbClr val="E7EC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Detail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78408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88136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487168"/>
            <a:ext cx="4937760" cy="0"/>
          </a:xfrm>
          <a:prstGeom prst="line">
            <a:avLst/>
          </a:prstGeom>
          <a:noFill/>
          <a:ln w="19050">
            <a:solidFill>
              <a:srgbClr val="E7EC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0392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$1.17M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78408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$136.4K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88136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03920" y="3337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$715.8K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84080" y="3337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$94.2K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881360" y="3337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0392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$440.1K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78408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$61.7K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88136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0" y="5120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customers, though smallest in volume, convert sales to profit most efficiently.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&amp; Fulfillment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 volume, though faster options carry healthy margins too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337560" cy="4663440"/>
          </a:xfrm>
          <a:prstGeom prst="roundRect">
            <a:avLst>
              <a:gd name="adj" fmla="val 2192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828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C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549640" y="2514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sales ship via Standard Class — the default, lowest-cost method.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49640" y="3611880"/>
            <a:ext cx="2468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549640" y="4389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First Class — the best of any shipping mode, despite its higher cost.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States by 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and New York lead — but several high-sales states are unprofitable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922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223760" y="1463040"/>
          <a:ext cx="44805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to lift overall profitability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2C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C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Furniture pricing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Bookcases post negative margins. Cap discounts on these sub-categories and review supplier costs.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2C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74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066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Technology &amp; Copiers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post a 37% margin — the highest of any line. Expand assortment and marketing push 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2C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06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5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high-discount states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Texas, Ohio, and Illinois generate strong sales but lose money — tighten discount approval in these markets.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40233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2C4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206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EC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Home Office segment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segment by volume but highest margin (14%) — targeted campaigns could boost overall profitability.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2026-09-06T09:43:28Z</dcterms:created>
  <dcterms:modified xsi:type="dcterms:W3CDTF">2026-09-06T09:43:28Z</dcterms:modified>
</cp:coreProperties>
</file>